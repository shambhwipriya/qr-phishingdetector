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1" r:id="rId7"/>
    <p:sldId id="273" r:id="rId8"/>
    <p:sldId id="264" r:id="rId9"/>
    <p:sldId id="269" r:id="rId10"/>
    <p:sldId id="272" r:id="rId11"/>
    <p:sldId id="270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00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DC9D-03B6-C13C-2447-C6184AEA3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09D7D-8217-EAE0-96CA-E59C396ED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ADB8E-C12E-7CA7-1577-7D39904C5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01BB0-E1E9-AB31-2CC4-48D588516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33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275C3-0901-0F0E-419E-CD817E6F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7F6C1-827A-972B-C9A4-02579CE13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CF0CC-C65F-F551-0CC5-4F1B0DEB0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44E6-0458-DAEE-EAFB-BA4A4BCB3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73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AA8A-0461-E3D2-B78A-78BA4BEF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A8B7-25F6-FC66-6BBD-59EEC98E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C6-70D8-57A7-4958-EB39C4D2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5A61-AC31-040F-F754-9F799CDE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090F-A0DD-F788-C924-F8F11C7F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1550-720F-1551-7ECD-38E0A18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2ED2-9EAE-3FC1-552D-936317F7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3D6D7-9C62-0BA4-ECCE-C7F1B49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0DA-BD3E-2922-843E-052FCBAF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839-9AC9-7FFA-6B9C-90E48BA1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4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AA9B-5C3B-B473-97BC-C563A1B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81002-C0AB-597C-017F-395D4D4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A9F7-3A4B-FD87-C0E7-6309184F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DB98-A48F-F5EE-CCA5-1DE7A1AD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7016-015F-3B6C-A134-3212E7F6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EFD-CC5D-DB08-961B-C3B9356A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C6C-EC53-1A3D-ABF6-B5B34FB17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CC6C-4EC4-0CED-0818-7EAEC8945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6209-BD80-EEF0-1DDC-5C63F1DD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4277-06EF-8234-188E-19A31C38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A4A4-6F1E-3530-0EF3-30D1912F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1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AC-976D-774F-026F-89DEEFBE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3695-CC07-353B-DB24-4D620826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E3ED-3C4D-5DB7-3580-0044FCB8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A589-B8EB-B021-2764-A6606477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EB89-042B-75BE-B3A3-8EF0E3348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0D317-6560-763B-0171-5DCDF38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185F-70EF-DEBC-EA5D-4A445E84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1051-F31E-D5D1-E18E-D686B92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5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887-0403-6A89-E11C-79FDC36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7A29C-DA86-EC2B-2852-2EAA3421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45625-7DFF-9CE8-3985-DFBBFC4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5EE1F-503A-BD55-1AFB-01B04AF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F3978-FE3A-4595-3568-DBE974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5577-633A-F73F-F2EF-7CC15E8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9FA2-3A34-82F4-5298-1C3972E3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3D7-DCC9-3DBA-6701-3FFDCF5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B413-97C6-02AF-ED0F-8E540975C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1D3-C073-996F-A44C-FF2D185B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4B48A-6110-CA23-CB80-3E94220A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B034-A781-2AE2-0F77-74C7AE9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FA56-B522-EF1F-0376-62598D02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9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E051-8572-1FE9-6391-B9EA65B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3479F-ED9F-952E-3E3E-E780B303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73381-BD8B-95D9-C784-123C42A6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E1BDA-A36A-B539-4A4D-1884749C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3645-DE86-EF56-EE24-EBF5D1A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61E6-E567-3384-166A-3A54092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D13C-747B-5CE2-C2D9-9C5AB480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AD1A-CEE9-D8D7-CD69-52E7162B0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284D-C200-2179-9F96-7F0CE1BF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A3B2-FA29-2320-C4FE-703F5D7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D84-8891-7E35-ABFF-C1F1EA4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F725E-4475-7435-3A50-D8944F08E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C3BB-411D-B43A-D535-F3D5BBF0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230D-63A7-03DB-D233-64B38F5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8B5-6EAA-E750-9B01-508187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79E0-EF84-8A6D-5F3F-5FE9CDB7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3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52E5C-2F4B-37A6-16C6-3B82ED9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5D9-963F-381A-9472-D3D568B2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178-FF8C-8CF3-1B0A-A7E7FEE4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2D80-5D6B-B4FF-EBA5-D3FE81A2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8575-0B25-2EE8-105C-FEB1BB797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09" y="1778996"/>
            <a:ext cx="10972800" cy="4552119"/>
          </a:xfrm>
        </p:spPr>
        <p:txBody>
          <a:bodyPr>
            <a:noAutofit/>
          </a:bodyPr>
          <a:lstStyle/>
          <a:p>
            <a:r>
              <a:rPr lang="en-US" sz="3600" b="1" u="sng" dirty="0"/>
              <a:t>QR Phishing Detector  </a:t>
            </a:r>
          </a:p>
          <a:p>
            <a:endParaRPr lang="en-IN" sz="3200" dirty="0"/>
          </a:p>
          <a:p>
            <a:r>
              <a:rPr lang="en-IN" sz="3200" dirty="0"/>
              <a:t>Name of Student                                     AKTU Roll number</a:t>
            </a:r>
          </a:p>
          <a:p>
            <a:r>
              <a:rPr lang="en-IN" dirty="0"/>
              <a:t>Shambhwi Priya                                                               2300100100361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Under Supervision</a:t>
            </a:r>
          </a:p>
          <a:p>
            <a:r>
              <a:rPr lang="en-IN" dirty="0"/>
              <a:t>Mr. Ayush Kumar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21519-5B45-B4EB-1438-13D4194F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0C02-E10E-47B7-3E94-F581E801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b="1" u="sng" dirty="0"/>
              <a:t>OUTLINE</a:t>
            </a:r>
          </a:p>
          <a:p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Objective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Phishing  check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Working of QR detector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Flow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Relevance to Real World Problems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1E4B8C7-9126-8D01-EBD6-634EA81D1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2E77A7-EAA0-D6D2-9ED2-A769258BB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45612A-B44A-B020-F088-8A96A4C0872E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D9EB089-2D40-0F0F-3F78-73801A2BF0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026" y="1991567"/>
            <a:ext cx="4454013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52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7C008-461C-5087-D6DA-6642F32B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1769165"/>
            <a:ext cx="11198941" cy="4407798"/>
          </a:xfrm>
        </p:spPr>
        <p:txBody>
          <a:bodyPr/>
          <a:lstStyle/>
          <a:p>
            <a:pPr marL="0" indent="0">
              <a:buNone/>
            </a:pPr>
            <a:r>
              <a:rPr lang="en-IN" sz="3200" b="1" u="sng" dirty="0"/>
              <a:t>INTRODUCTION</a:t>
            </a:r>
          </a:p>
          <a:p>
            <a:pPr marL="342900" indent="-342900"/>
            <a:r>
              <a:rPr lang="en-IN" dirty="0"/>
              <a:t>QR Codes are widely used for payments, links, and promotions.</a:t>
            </a:r>
          </a:p>
          <a:p>
            <a:pPr marL="342900" indent="-342900"/>
            <a:r>
              <a:rPr lang="en-IN" dirty="0"/>
              <a:t>Cybercriminals embed malicious/phishing links in QR codes.</a:t>
            </a:r>
          </a:p>
          <a:p>
            <a:pPr marL="342900" indent="-342900"/>
            <a:r>
              <a:rPr lang="en-IN" dirty="0"/>
              <a:t>Users may unknowingly open harmful websites.</a:t>
            </a:r>
          </a:p>
          <a:p>
            <a:pPr marL="342900" indent="-342900"/>
            <a:r>
              <a:rPr lang="en-IN" b="1" dirty="0"/>
              <a:t>QR Code Phishing Detector</a:t>
            </a:r>
            <a:r>
              <a:rPr lang="en-IN" dirty="0"/>
              <a:t> helps identify and warn about such suspicious links.</a:t>
            </a:r>
          </a:p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583EA47-8978-D3E2-9A2D-16B387539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054FF-B5EF-6978-714A-728BB4C1B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C06CF-21E8-E61B-109E-1D9F84214CFB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509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41BBB06-2A7B-8D10-4A0D-04C562985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9E6C3E-6756-F8F6-56E9-8716A7C5B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906D13-C5F7-DB22-5F61-EB05EB7D315A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08EFAB-988B-0077-303F-8D5C2DD87F41}"/>
              </a:ext>
            </a:extLst>
          </p:cNvPr>
          <p:cNvSpPr txBox="1"/>
          <p:nvPr/>
        </p:nvSpPr>
        <p:spPr>
          <a:xfrm>
            <a:off x="288234" y="1827868"/>
            <a:ext cx="886033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Objective</a:t>
            </a:r>
          </a:p>
          <a:p>
            <a:r>
              <a:rPr lang="en-US" sz="2400" dirty="0"/>
              <a:t>To scan and decode QR codes from images.</a:t>
            </a:r>
          </a:p>
          <a:p>
            <a:r>
              <a:rPr lang="en-US" sz="2400" dirty="0"/>
              <a:t>To detect whether the decoded URL is </a:t>
            </a:r>
            <a:r>
              <a:rPr lang="en-US" sz="2400" b="1" dirty="0"/>
              <a:t>safe or suspicious</a:t>
            </a:r>
            <a:r>
              <a:rPr lang="en-US" sz="2400" dirty="0"/>
              <a:t>.</a:t>
            </a:r>
          </a:p>
          <a:p>
            <a:r>
              <a:rPr lang="en-US" sz="2400" dirty="0"/>
              <a:t>To provide a </a:t>
            </a:r>
            <a:r>
              <a:rPr lang="en-US" sz="2400" b="1" dirty="0"/>
              <a:t>color-coded result</a:t>
            </a:r>
            <a:r>
              <a:rPr lang="en-US" sz="2400" dirty="0"/>
              <a:t> (Safe, Suspicious, Unknown).</a:t>
            </a:r>
          </a:p>
          <a:p>
            <a:r>
              <a:rPr lang="en-US" sz="2400" dirty="0"/>
              <a:t>To enhance user awareness about phishing through QR codes.</a:t>
            </a:r>
          </a:p>
          <a:p>
            <a:br>
              <a:rPr lang="en-US" sz="2400" dirty="0"/>
            </a:br>
            <a:endParaRPr lang="en-US" sz="2400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60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55FB-9DFE-A9DD-12D7-76F3AF26E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b="1" u="sng" dirty="0"/>
              <a:t>Phishing Check Features</a:t>
            </a:r>
          </a:p>
          <a:p>
            <a:r>
              <a:rPr lang="en-IN" sz="2400" dirty="0"/>
              <a:t>Detects </a:t>
            </a:r>
            <a:r>
              <a:rPr lang="en-IN" sz="2400" b="1" dirty="0"/>
              <a:t>HTTP</a:t>
            </a:r>
            <a:r>
              <a:rPr lang="en-IN" sz="2400" dirty="0"/>
              <a:t> (not secure) URLs.</a:t>
            </a:r>
          </a:p>
          <a:p>
            <a:r>
              <a:rPr lang="en-IN" sz="2400" dirty="0"/>
              <a:t>Flags </a:t>
            </a:r>
            <a:r>
              <a:rPr lang="en-IN" sz="2400" b="1" dirty="0"/>
              <a:t>shortened links</a:t>
            </a:r>
            <a:r>
              <a:rPr lang="en-IN" sz="2400" dirty="0"/>
              <a:t> (bit.ly, </a:t>
            </a:r>
            <a:r>
              <a:rPr lang="en-IN" sz="2400" dirty="0" err="1"/>
              <a:t>tinyurl</a:t>
            </a:r>
            <a:r>
              <a:rPr lang="en-IN" sz="2400" dirty="0"/>
              <a:t>, goo.gl).</a:t>
            </a:r>
          </a:p>
          <a:p>
            <a:r>
              <a:rPr lang="en-IN" sz="2400" dirty="0"/>
              <a:t>Detects </a:t>
            </a:r>
            <a:r>
              <a:rPr lang="en-IN" sz="2400" b="1" dirty="0"/>
              <a:t>direct IP URLs</a:t>
            </a:r>
            <a:r>
              <a:rPr lang="en-IN" sz="2400" dirty="0"/>
              <a:t>.</a:t>
            </a:r>
          </a:p>
          <a:p>
            <a:r>
              <a:rPr lang="en-IN" sz="2400" dirty="0"/>
              <a:t>Flags </a:t>
            </a:r>
            <a:r>
              <a:rPr lang="en-IN" sz="2400" b="1" dirty="0"/>
              <a:t>very long URLs</a:t>
            </a:r>
            <a:r>
              <a:rPr lang="en-IN" sz="2400" dirty="0"/>
              <a:t> (possible obfuscation).</a:t>
            </a:r>
          </a:p>
          <a:p>
            <a:r>
              <a:rPr lang="en-IN" sz="2400" dirty="0"/>
              <a:t>Detects </a:t>
            </a:r>
            <a:r>
              <a:rPr lang="en-IN" sz="2400" b="1" dirty="0" err="1"/>
              <a:t>typosquatting</a:t>
            </a:r>
            <a:r>
              <a:rPr lang="en-IN" sz="2400" b="1" dirty="0"/>
              <a:t> domains</a:t>
            </a:r>
            <a:r>
              <a:rPr lang="en-IN" sz="2400" dirty="0"/>
              <a:t> (e.g., g00gle, paypa1).</a:t>
            </a:r>
          </a:p>
          <a:p>
            <a:r>
              <a:rPr lang="en-IN" sz="2400" dirty="0"/>
              <a:t>Marks </a:t>
            </a:r>
            <a:r>
              <a:rPr lang="en-IN" sz="2400" b="1" dirty="0"/>
              <a:t>non-URL text</a:t>
            </a:r>
            <a:r>
              <a:rPr lang="en-IN" sz="2400" dirty="0"/>
              <a:t> as “Unknown”.</a:t>
            </a:r>
          </a:p>
          <a:p>
            <a:pPr marL="0" indent="0">
              <a:buNone/>
            </a:pPr>
            <a:endParaRPr lang="en-IN" sz="2400" b="1" u="sng" dirty="0"/>
          </a:p>
          <a:p>
            <a:pPr marL="0" indent="0">
              <a:buNone/>
            </a:pPr>
            <a:endParaRPr lang="en-IN" b="1" u="sng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950F7BD-06A8-7C4A-5354-D3F7CE2EA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31" y="298863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661E9-1512-A56A-DF3C-79B4DE06E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6A1796-49C8-ABFB-C16B-36918BEED492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66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A4C1-0AA6-2BB4-C786-76BAA79E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B7DF8-CE16-A3B4-9150-39EB0ECBE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735C9-D727-68D8-F2A2-B19553AA4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D9AA90-C501-1A4B-5047-7FF473351DAB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FC336D8-AAE6-6F97-7AC7-221C6BD36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53" y="206890"/>
            <a:ext cx="3643313" cy="1171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A9404D-3704-61C0-BB38-DCBC62C7EEFA}"/>
              </a:ext>
            </a:extLst>
          </p:cNvPr>
          <p:cNvSpPr txBox="1"/>
          <p:nvPr/>
        </p:nvSpPr>
        <p:spPr>
          <a:xfrm>
            <a:off x="550606" y="1796464"/>
            <a:ext cx="11277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Working of QR Detector</a:t>
            </a:r>
          </a:p>
          <a:p>
            <a:r>
              <a:rPr lang="en-US" sz="2400" dirty="0"/>
              <a:t>Step 1: Upload a QR image.</a:t>
            </a:r>
          </a:p>
          <a:p>
            <a:r>
              <a:rPr lang="en-US" sz="2400" dirty="0"/>
              <a:t>Step 2: System extracts pixel data using &lt;canvas&gt;.</a:t>
            </a:r>
          </a:p>
          <a:p>
            <a:r>
              <a:rPr lang="en-US" sz="2400" dirty="0"/>
              <a:t>Step 3: QR code decoded using </a:t>
            </a:r>
            <a:r>
              <a:rPr lang="en-US" sz="2400" b="1" dirty="0" err="1"/>
              <a:t>jsQR</a:t>
            </a:r>
            <a:r>
              <a:rPr lang="en-US" sz="2400" b="1" dirty="0"/>
              <a:t> library</a:t>
            </a:r>
            <a:r>
              <a:rPr lang="en-US" sz="2400" dirty="0"/>
              <a:t>.</a:t>
            </a:r>
          </a:p>
          <a:p>
            <a:r>
              <a:rPr lang="en-US" sz="2400" dirty="0"/>
              <a:t>Step 4: Decoded text/URL passed to phishing check function.</a:t>
            </a:r>
          </a:p>
          <a:p>
            <a:r>
              <a:rPr lang="en-US" sz="2400" dirty="0"/>
              <a:t>Step 5: Result displayed with status and message.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6876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6668-1AE4-FA1F-4EDA-E2CC15A7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256A-3F88-4E56-1B02-8BB3A954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94680-AD66-F5F1-1D58-3143ABE9E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F12AF4-5BEF-0664-847A-C635114C1335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DFF4E9AC-9849-18E5-56E9-FC2F8F9E8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53" y="206890"/>
            <a:ext cx="3643313" cy="1171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676247-AA42-3152-F5C8-587546B44289}"/>
              </a:ext>
            </a:extLst>
          </p:cNvPr>
          <p:cNvSpPr txBox="1"/>
          <p:nvPr/>
        </p:nvSpPr>
        <p:spPr>
          <a:xfrm>
            <a:off x="550606" y="1796464"/>
            <a:ext cx="1127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Data Flow Diagram</a:t>
            </a:r>
          </a:p>
          <a:p>
            <a:endParaRPr lang="en-US" sz="2400" dirty="0"/>
          </a:p>
          <a:p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BDCEC6-1B99-CD69-EB7F-1E724F5397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648031"/>
            <a:ext cx="6858000" cy="520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8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0B938-47BC-1FAC-9D38-E3A1D8D7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34" y="1769165"/>
            <a:ext cx="11746450" cy="4444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Relevance to Real-World Problems</a:t>
            </a:r>
          </a:p>
          <a:p>
            <a:r>
              <a:rPr lang="en-US" sz="2400" b="1" dirty="0"/>
              <a:t>Digital Payments</a:t>
            </a:r>
            <a:endParaRPr lang="en-US" sz="2400" dirty="0"/>
          </a:p>
          <a:p>
            <a:pPr lvl="1"/>
            <a:r>
              <a:rPr lang="en-US" dirty="0"/>
              <a:t>Prevents fake QR scams in UPI, Paytm, </a:t>
            </a:r>
            <a:r>
              <a:rPr lang="en-US" dirty="0" err="1"/>
              <a:t>PhonePe</a:t>
            </a:r>
            <a:r>
              <a:rPr lang="en-US" dirty="0"/>
              <a:t>, etc.</a:t>
            </a:r>
          </a:p>
          <a:p>
            <a:r>
              <a:rPr lang="en-US" sz="2400" b="1" dirty="0"/>
              <a:t>E-commerce &amp; Ads</a:t>
            </a:r>
            <a:endParaRPr lang="en-US" sz="2400" dirty="0"/>
          </a:p>
          <a:p>
            <a:pPr lvl="1"/>
            <a:r>
              <a:rPr lang="en-US" dirty="0"/>
              <a:t>Protects customers from malicious QR on posters/websites.</a:t>
            </a:r>
          </a:p>
          <a:p>
            <a:r>
              <a:rPr lang="en-US" sz="2400" b="1" dirty="0"/>
              <a:t>Cybersecurity Awareness</a:t>
            </a:r>
            <a:endParaRPr lang="en-US" sz="2400" dirty="0"/>
          </a:p>
          <a:p>
            <a:pPr lvl="1"/>
            <a:r>
              <a:rPr lang="en-US" dirty="0"/>
              <a:t>Educates users about phishing attempts hidden in QR codes.</a:t>
            </a:r>
          </a:p>
          <a:p>
            <a:r>
              <a:rPr lang="en-US" sz="2400" b="1" dirty="0"/>
              <a:t>Academic &amp; Research</a:t>
            </a:r>
            <a:endParaRPr lang="en-US" sz="2400" dirty="0"/>
          </a:p>
          <a:p>
            <a:pPr lvl="1"/>
            <a:r>
              <a:rPr lang="en-US" dirty="0"/>
              <a:t>Useful for students and beginners to understand phishing concepts.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158A9AD-50FB-A088-297E-75865CEB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2644DD-BBD0-C82A-8AAE-C848F88E2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8F0D35-DC23-BF3D-7009-A7873763454E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544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F32D-5198-9569-1841-1061564F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1414D-8833-752E-0B3D-51DEC655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u="sng" dirty="0"/>
              <a:t>Output</a:t>
            </a:r>
          </a:p>
          <a:p>
            <a:pPr marL="0" indent="0">
              <a:buNone/>
            </a:pPr>
            <a:endParaRPr lang="en-IN" sz="2400" b="1" dirty="0"/>
          </a:p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D446CAC-B9FC-4DC1-62B7-A3269116A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D0793-A361-FA27-CD27-E392C8571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3F49A7-BE1A-7E91-824C-A88CF93C3D09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CBF99EC-AE79-99D0-2493-7465C437B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8" y="2344538"/>
            <a:ext cx="10653865" cy="451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EC46-742C-A375-B69A-94F1072D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0545-2B6C-FF6C-1C8F-ED93D55BE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u="sng" dirty="0"/>
              <a:t>Output</a:t>
            </a:r>
          </a:p>
          <a:p>
            <a:pPr marL="0" indent="0">
              <a:buNone/>
            </a:pPr>
            <a:endParaRPr lang="en-IN" sz="2400" b="1" dirty="0"/>
          </a:p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3131D55-2608-8BDB-333A-143C02A59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35662-1146-528D-71A5-6A5E80D02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53890F-827E-D280-4A11-20DB5035154A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F07E379-1593-1DD0-239A-6596A4CDFB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141" y="2488100"/>
            <a:ext cx="5102943" cy="3934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C26958-E7B9-73B0-32CC-08ACF54B4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8100"/>
            <a:ext cx="4689986" cy="393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88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FA2E-E68C-E968-A637-C197DA46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4CBAB-69F4-C34C-B169-5A498A5D0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400" b="1" dirty="0"/>
          </a:p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B73BD67-A8A3-4987-93FC-CFCD5172F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232E6B-165F-5ECD-91D8-CD721A3FB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70F8C8-A299-BDBA-2121-093CDDA0DF96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71B6E8-2CA5-4401-4CA1-1F8C4631FE2B}"/>
              </a:ext>
            </a:extLst>
          </p:cNvPr>
          <p:cNvSpPr txBox="1"/>
          <p:nvPr/>
        </p:nvSpPr>
        <p:spPr>
          <a:xfrm>
            <a:off x="747253" y="1907458"/>
            <a:ext cx="1109078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QR phishing is a growing cyber threat.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This detector provides </a:t>
            </a:r>
            <a:r>
              <a:rPr lang="en-US" sz="2400" b="1" dirty="0"/>
              <a:t>basic heuristic checks</a:t>
            </a:r>
            <a:r>
              <a:rPr lang="en-US" sz="2400" dirty="0"/>
              <a:t> for safety.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Helps users stay alert before opening QR links.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Can be extended with </a:t>
            </a:r>
            <a:r>
              <a:rPr lang="en-US" sz="2400" b="1" dirty="0"/>
              <a:t>Google Safe Browsing API</a:t>
            </a:r>
            <a:r>
              <a:rPr lang="en-US" sz="2400" dirty="0"/>
              <a:t> for real-time threat detection.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9398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8706C-B1AC-6C36-FBBB-0EEF47444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5400" b="1" dirty="0"/>
          </a:p>
          <a:p>
            <a:pPr marL="0" indent="0" algn="ctr">
              <a:buNone/>
            </a:pPr>
            <a:r>
              <a:rPr lang="en-IN" sz="5400" b="1" dirty="0"/>
              <a:t>THANK YOU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E07EEFD-85CD-6BB7-7C49-7C35CEA56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0"/>
            <a:ext cx="3643313" cy="117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3779B6-3069-2476-FBEB-90181F9BA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42" y="58459"/>
            <a:ext cx="2657475" cy="14684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B90D1F-DAEE-B38A-39CC-71652D773975}"/>
              </a:ext>
            </a:extLst>
          </p:cNvPr>
          <p:cNvCxnSpPr/>
          <p:nvPr/>
        </p:nvCxnSpPr>
        <p:spPr>
          <a:xfrm>
            <a:off x="0" y="164803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270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350</Words>
  <Application>Microsoft Office PowerPoint</Application>
  <PresentationFormat>Widescreen</PresentationFormat>
  <Paragraphs>67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</dc:creator>
  <cp:lastModifiedBy>shambhwi priya</cp:lastModifiedBy>
  <cp:revision>11</cp:revision>
  <dcterms:created xsi:type="dcterms:W3CDTF">2024-08-24T09:30:54Z</dcterms:created>
  <dcterms:modified xsi:type="dcterms:W3CDTF">2025-09-21T05:21:58Z</dcterms:modified>
</cp:coreProperties>
</file>